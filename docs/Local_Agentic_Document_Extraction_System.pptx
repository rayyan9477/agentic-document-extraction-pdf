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49728" y="228600"/>
            <a:ext cx="1508522" cy="260896"/>
          </a:xfrm>
          <a:prstGeom prst="roundRect">
            <a:avLst>
              <a:gd name="adj" fmla="val 1460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83078" y="285750"/>
            <a:ext cx="12666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71500" y="1501229"/>
            <a:ext cx="428453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Agentic Document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571500" y="2133600"/>
            <a:ext cx="409022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 System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571500" y="2918371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VLM + Multi-Agent Architecture for Healthcare RCM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788" y="3665041"/>
            <a:ext cx="0" cy="35808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375" y="3665041"/>
            <a:ext cx="87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4375" y="3836491"/>
            <a:ext cx="874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 8B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14513" y="3665041"/>
            <a:ext cx="0" cy="35808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3100" y="3665041"/>
            <a:ext cx="65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943100" y="3836491"/>
            <a:ext cx="6573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 Studio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30413" y="3665041"/>
            <a:ext cx="0" cy="35808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9001" y="3665041"/>
            <a:ext cx="8543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959001" y="3836491"/>
            <a:ext cx="8543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Specialized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39493" y="3665041"/>
            <a:ext cx="0" cy="35808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8080" y="3665041"/>
            <a:ext cx="854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68080" y="3836491"/>
            <a:ext cx="8542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Ready</a:t>
            </a:r>
            <a:endParaRPr lang="en-US" sz="1050" dirty="0"/>
          </a:p>
        </p:txBody>
      </p:sp>
      <p:pic>
        <p:nvPicPr>
          <p:cNvPr id="20" name="Image 0" descr="/tmp/rasterized-gradient-50a30a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347663"/>
            <a:ext cx="381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28600"/>
            <a:ext cx="23497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6250" y="1493639"/>
            <a:ext cx="4086225" cy="639961"/>
          </a:xfrm>
          <a:prstGeom prst="roundRect">
            <a:avLst>
              <a:gd name="adj" fmla="val 893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95300" y="1493639"/>
            <a:ext cx="0" cy="63996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650" y="1607939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8650" y="1779389"/>
            <a:ext cx="38959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RCM requires 97%+ accuracy on sensitive documents while maintaining HIPAA compliance and data sovereignty.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676775" y="1493639"/>
            <a:ext cx="4086225" cy="639961"/>
          </a:xfrm>
          <a:prstGeom prst="roundRect">
            <a:avLst>
              <a:gd name="adj" fmla="val 893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95825" y="1493639"/>
            <a:ext cx="0" cy="63996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9175" y="1607939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29175" y="1779389"/>
            <a:ext cx="38959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4-agent system using local VLM with 3-layer anti-hallucination and schema-driven extraction.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76250" y="2247900"/>
            <a:ext cx="2014538" cy="622846"/>
          </a:xfrm>
          <a:prstGeom prst="roundRect">
            <a:avLst>
              <a:gd name="adj" fmla="val 9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3260" y="2343150"/>
            <a:ext cx="186051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53260" y="2655540"/>
            <a:ext cx="18605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Agents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566988" y="2247900"/>
            <a:ext cx="2014538" cy="622846"/>
          </a:xfrm>
          <a:prstGeom prst="roundRect">
            <a:avLst>
              <a:gd name="adj" fmla="val 9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43997" y="2343150"/>
            <a:ext cx="186051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643997" y="2655540"/>
            <a:ext cx="18605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Layers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57725" y="2247900"/>
            <a:ext cx="2014538" cy="622846"/>
          </a:xfrm>
          <a:prstGeom prst="roundRect">
            <a:avLst>
              <a:gd name="adj" fmla="val 9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34735" y="2343150"/>
            <a:ext cx="186051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734735" y="2655540"/>
            <a:ext cx="18605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Processing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748463" y="2247900"/>
            <a:ext cx="2014538" cy="622846"/>
          </a:xfrm>
          <a:prstGeom prst="roundRect">
            <a:avLst>
              <a:gd name="adj" fmla="val 9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25472" y="2343150"/>
            <a:ext cx="186051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825472" y="2655540"/>
            <a:ext cx="18605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Timeline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76250" y="2985046"/>
            <a:ext cx="8286750" cy="558105"/>
          </a:xfrm>
          <a:prstGeom prst="roundRect">
            <a:avLst>
              <a:gd name="adj" fmla="val 1024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0550" y="3099346"/>
            <a:ext cx="8219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 AGENTS INSTEAD OF 9?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0550" y="334029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04850" y="3308896"/>
            <a:ext cx="8165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fewer VLM calls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1657796" y="334029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772096" y="3308896"/>
            <a:ext cx="78255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faster processing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2691705" y="334029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806005" y="3308896"/>
            <a:ext cx="8262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orchestration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768477" y="334029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82777" y="3308896"/>
            <a:ext cx="7728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maintenance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76250" y="3657451"/>
            <a:ext cx="8286750" cy="678061"/>
          </a:xfrm>
          <a:prstGeom prst="roundRect">
            <a:avLst>
              <a:gd name="adj" fmla="val 842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0550" y="3771751"/>
            <a:ext cx="8219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IMPROVEMENTS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90550" y="3962251"/>
            <a:ext cx="2674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Old: 6-8 VLM calls/page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90550" y="4101257"/>
            <a:ext cx="2674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3-4 VLM calls/page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3308300" y="3962251"/>
            <a:ext cx="2674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Old: 45-60 sec/page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3308300" y="4101257"/>
            <a:ext cx="2674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15-25 sec/page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026051" y="3962251"/>
            <a:ext cx="2674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Old: 6 validation layers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6026051" y="4101257"/>
            <a:ext cx="2674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3 effective layers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347663"/>
            <a:ext cx="381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28600"/>
            <a:ext cx="24451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4-Agent Architecture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6250" y="1850082"/>
            <a:ext cx="762000" cy="1424434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02222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149" y="2366963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0359" y="2702272"/>
            <a:ext cx="3937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Input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1314450" y="2455664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43050" y="1850082"/>
            <a:ext cx="952500" cy="1424434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38300" y="1945332"/>
            <a:ext cx="777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PREPROCESSOR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1638300" y="2103388"/>
            <a:ext cx="7772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→ Images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638300" y="2209949"/>
            <a:ext cx="7772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638300" y="2354610"/>
            <a:ext cx="77724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300"/>
              </a:spcBef>
              <a:buNone/>
            </a:pPr>
            <a:r>
              <a:rPr lang="en-US" sz="525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VLM calls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2571750" y="2455664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pic>
        <p:nvPicPr>
          <p:cNvPr id="16" name="Image 0" descr="/tmp/rasterized-gradient-0a2565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350" y="1850082"/>
            <a:ext cx="4895850" cy="44946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895600" y="1945332"/>
            <a:ext cx="2139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1: ORCHESTRATOR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895600" y="2097732"/>
            <a:ext cx="213968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 Machine • Workflow Control • Error Handling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054602" y="1983432"/>
            <a:ext cx="546348" cy="182761"/>
          </a:xfrm>
          <a:prstGeom prst="roundRect">
            <a:avLst>
              <a:gd name="adj" fmla="val 20847"/>
            </a:avLst>
          </a:prstGeom>
          <a:solidFill>
            <a:srgbClr val="F9731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130802" y="2021532"/>
            <a:ext cx="40182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VLM calls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2800350" y="2356693"/>
            <a:ext cx="1593800" cy="917823"/>
          </a:xfrm>
          <a:prstGeom prst="roundRect">
            <a:avLst>
              <a:gd name="adj" fmla="val 622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2800350" y="2370981"/>
            <a:ext cx="159380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95600" y="2480518"/>
            <a:ext cx="1431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2: ANALYZER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895600" y="2651968"/>
            <a:ext cx="14313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2895600" y="2758529"/>
            <a:ext cx="14313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detection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2895600" y="2865090"/>
            <a:ext cx="14313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relationships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2895600" y="3028801"/>
            <a:ext cx="551706" cy="150465"/>
          </a:xfrm>
          <a:prstGeom prst="roundRect">
            <a:avLst>
              <a:gd name="adj" fmla="val 18991"/>
            </a:avLst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952750" y="3057376"/>
            <a:ext cx="44615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VLM call/doc</a:t>
            </a:r>
            <a:endParaRPr lang="en-US" sz="525" dirty="0"/>
          </a:p>
        </p:txBody>
      </p:sp>
      <p:sp>
        <p:nvSpPr>
          <p:cNvPr id="29" name="Text 26"/>
          <p:cNvSpPr/>
          <p:nvPr/>
        </p:nvSpPr>
        <p:spPr>
          <a:xfrm>
            <a:off x="4451300" y="2356693"/>
            <a:ext cx="1593800" cy="917823"/>
          </a:xfrm>
          <a:prstGeom prst="roundRect">
            <a:avLst>
              <a:gd name="adj" fmla="val 622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451300" y="2370981"/>
            <a:ext cx="1593800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46550" y="2480518"/>
            <a:ext cx="1431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3: EXTRACTOR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546550" y="2651968"/>
            <a:ext cx="14313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Schema-driven extraction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546550" y="2758529"/>
            <a:ext cx="14313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Dual-pass verification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4546550" y="2865090"/>
            <a:ext cx="14313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546550" y="3028801"/>
            <a:ext cx="625822" cy="150465"/>
          </a:xfrm>
          <a:prstGeom prst="roundRect">
            <a:avLst>
              <a:gd name="adj" fmla="val 18991"/>
            </a:avLst>
          </a:prstGeom>
          <a:solidFill>
            <a:srgbClr val="065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603700" y="3057376"/>
            <a:ext cx="52175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VLM calls/page</a:t>
            </a:r>
            <a:endParaRPr lang="en-US" sz="525" dirty="0"/>
          </a:p>
        </p:txBody>
      </p:sp>
      <p:sp>
        <p:nvSpPr>
          <p:cNvPr id="37" name="Text 34"/>
          <p:cNvSpPr/>
          <p:nvPr/>
        </p:nvSpPr>
        <p:spPr>
          <a:xfrm>
            <a:off x="6102251" y="2356693"/>
            <a:ext cx="1593800" cy="917823"/>
          </a:xfrm>
          <a:prstGeom prst="roundRect">
            <a:avLst>
              <a:gd name="adj" fmla="val 6227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6102251" y="2370981"/>
            <a:ext cx="1593800" cy="0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97501" y="2480518"/>
            <a:ext cx="1431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4: VALIDATOR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197501" y="2651968"/>
            <a:ext cx="14313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6197501" y="2758529"/>
            <a:ext cx="14313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detection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6197501" y="2865090"/>
            <a:ext cx="14313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Cross-page merging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6197501" y="3028801"/>
            <a:ext cx="610939" cy="150465"/>
          </a:xfrm>
          <a:prstGeom prst="roundRect">
            <a:avLst>
              <a:gd name="adj" fmla="val 18991"/>
            </a:avLst>
          </a:prstGeom>
          <a:solidFill>
            <a:srgbClr val="9D1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254651" y="3057376"/>
            <a:ext cx="50657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 VLM call/doc</a:t>
            </a:r>
            <a:endParaRPr lang="en-US" sz="525" dirty="0"/>
          </a:p>
        </p:txBody>
      </p:sp>
      <p:sp>
        <p:nvSpPr>
          <p:cNvPr id="45" name="Text 42"/>
          <p:cNvSpPr/>
          <p:nvPr/>
        </p:nvSpPr>
        <p:spPr>
          <a:xfrm>
            <a:off x="7772400" y="2455664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001000" y="1850082"/>
            <a:ext cx="762000" cy="1424434"/>
          </a:xfrm>
          <a:prstGeom prst="roundRect">
            <a:avLst>
              <a:gd name="adj" fmla="val 7500"/>
            </a:avLst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8318153" y="2309961"/>
            <a:ext cx="1302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252222" y="2561332"/>
            <a:ext cx="2645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8253264" y="2694682"/>
            <a:ext cx="262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75" dirty="0"/>
          </a:p>
        </p:txBody>
      </p:sp>
      <p:sp>
        <p:nvSpPr>
          <p:cNvPr id="50" name="Text 47"/>
          <p:cNvSpPr/>
          <p:nvPr/>
        </p:nvSpPr>
        <p:spPr>
          <a:xfrm>
            <a:off x="476250" y="3369766"/>
            <a:ext cx="8286750" cy="571351"/>
          </a:xfrm>
          <a:prstGeom prst="roundRect">
            <a:avLst>
              <a:gd name="adj" fmla="val 1000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71500" y="3519190"/>
            <a:ext cx="2060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BACKEND: Qwen3-VL 8B via LM Studio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571500" y="3671590"/>
            <a:ext cx="20602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GPU • OpenAI-Compatible API • 32K Context</a:t>
            </a:r>
            <a:endParaRPr lang="en-US" sz="675" dirty="0"/>
          </a:p>
        </p:txBody>
      </p:sp>
      <p:sp>
        <p:nvSpPr>
          <p:cNvPr id="53" name="Text 50"/>
          <p:cNvSpPr/>
          <p:nvPr/>
        </p:nvSpPr>
        <p:spPr>
          <a:xfrm>
            <a:off x="7213253" y="3465016"/>
            <a:ext cx="647700" cy="380851"/>
          </a:xfrm>
          <a:prstGeom prst="roundRect">
            <a:avLst>
              <a:gd name="adj" fmla="val 100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7303931" y="3522166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~6GB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303931" y="3682157"/>
            <a:ext cx="46634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(INT4)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7956203" y="3465016"/>
            <a:ext cx="711547" cy="380851"/>
          </a:xfrm>
          <a:prstGeom prst="roundRect">
            <a:avLst>
              <a:gd name="adj" fmla="val 100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8046242" y="3522166"/>
            <a:ext cx="531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8046242" y="3682157"/>
            <a:ext cx="531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calls/page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70465" y="190500"/>
            <a:ext cx="1087785" cy="20955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84765" y="228600"/>
            <a:ext cx="87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• WEEK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90500" y="347663"/>
            <a:ext cx="381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"/>
            <a:ext cx="4360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 and Environment Setup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76250" y="1251942"/>
            <a:ext cx="46093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TASKS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6250" y="1461492"/>
            <a:ext cx="4519017" cy="449461"/>
          </a:xfrm>
          <a:prstGeom prst="roundRect">
            <a:avLst>
              <a:gd name="adj" fmla="val 1271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155674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259" y="158531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38200" y="1556742"/>
            <a:ext cx="20791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 Hardware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38200" y="1709142"/>
            <a:ext cx="207911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4090 (24GB) or A6000 • 32-64GB RAM • 500GB NVMe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6250" y="1987153"/>
            <a:ext cx="4519017" cy="449461"/>
          </a:xfrm>
          <a:prstGeom prst="roundRect">
            <a:avLst>
              <a:gd name="adj" fmla="val 1271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2082403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259" y="2110978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38200" y="2082403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LM Studio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38200" y="2234803"/>
            <a:ext cx="17293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from lmstudio.ai • Enable vision support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76250" y="2512814"/>
            <a:ext cx="4519017" cy="449461"/>
          </a:xfrm>
          <a:prstGeom prst="roundRect">
            <a:avLst>
              <a:gd name="adj" fmla="val 1271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1500" y="2608064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259" y="2636639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8200" y="2608064"/>
            <a:ext cx="1925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Qwen3-VL Model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38200" y="2760464"/>
            <a:ext cx="192579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Q4_K_M quantization (~6GB VRAM) • All layers to GPU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6250" y="3038475"/>
            <a:ext cx="4519017" cy="449461"/>
          </a:xfrm>
          <a:prstGeom prst="roundRect">
            <a:avLst>
              <a:gd name="adj" fmla="val 1271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1500" y="313372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0259" y="316230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38200" y="3133725"/>
            <a:ext cx="1886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Local Server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38200" y="3286125"/>
            <a:ext cx="188662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1234 • Context 8192-32768 • Enable image inputs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6250" y="3564136"/>
            <a:ext cx="4519017" cy="449461"/>
          </a:xfrm>
          <a:prstGeom prst="roundRect">
            <a:avLst>
              <a:gd name="adj" fmla="val 1271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1500" y="3659386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0259" y="368796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8200" y="3659386"/>
            <a:ext cx="1422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Python Environment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38200" y="3811786"/>
            <a:ext cx="14227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• venv • Install dependencies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76250" y="4089797"/>
            <a:ext cx="4519017" cy="449461"/>
          </a:xfrm>
          <a:prstGeom prst="roundRect">
            <a:avLst>
              <a:gd name="adj" fmla="val 1271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71500" y="4185047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0259" y="4213622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38200" y="4185047"/>
            <a:ext cx="1755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Vision Capability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38200" y="4337447"/>
            <a:ext cx="17551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sample image • Confirm structured output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147667" y="1870025"/>
            <a:ext cx="3687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147667" y="2079575"/>
            <a:ext cx="3615333" cy="702766"/>
          </a:xfrm>
          <a:prstGeom prst="roundRect">
            <a:avLst>
              <a:gd name="adj" fmla="val 813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42917" y="2174825"/>
            <a:ext cx="34933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Options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5242917" y="2351931"/>
            <a:ext cx="1116211" cy="335161"/>
          </a:xfrm>
          <a:prstGeom prst="roundRect">
            <a:avLst>
              <a:gd name="adj" fmla="val 8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80333" y="2399556"/>
            <a:ext cx="104138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280333" y="2506117"/>
            <a:ext cx="1041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18GB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397228" y="2351931"/>
            <a:ext cx="1116211" cy="335161"/>
          </a:xfrm>
          <a:prstGeom prst="roundRect">
            <a:avLst>
              <a:gd name="adj" fmla="val 8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434644" y="2399556"/>
            <a:ext cx="104138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434644" y="2506117"/>
            <a:ext cx="1041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10GB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551539" y="2351931"/>
            <a:ext cx="1116211" cy="335161"/>
          </a:xfrm>
          <a:prstGeom prst="roundRect">
            <a:avLst>
              <a:gd name="adj" fmla="val 8526"/>
            </a:avLst>
          </a:prstGeom>
          <a:solidFill>
            <a:srgbClr val="D1FAE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588954" y="2399556"/>
            <a:ext cx="104138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7588954" y="2506117"/>
            <a:ext cx="1041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6GB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147667" y="2858542"/>
            <a:ext cx="3615333" cy="512266"/>
          </a:xfrm>
          <a:prstGeom prst="roundRect">
            <a:avLst>
              <a:gd name="adj" fmla="val 111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242917" y="2953792"/>
            <a:ext cx="34933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Packages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5242917" y="3130897"/>
            <a:ext cx="453330" cy="144661"/>
          </a:xfrm>
          <a:prstGeom prst="roundRect">
            <a:avLst>
              <a:gd name="adj" fmla="val 19753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300067" y="3149947"/>
            <a:ext cx="3458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724823" y="3130897"/>
            <a:ext cx="461516" cy="144661"/>
          </a:xfrm>
          <a:prstGeom prst="roundRect">
            <a:avLst>
              <a:gd name="adj" fmla="val 1975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781973" y="3149947"/>
            <a:ext cx="35416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PyMuPDF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214914" y="3130897"/>
            <a:ext cx="343198" cy="144661"/>
          </a:xfrm>
          <a:prstGeom prst="roundRect">
            <a:avLst>
              <a:gd name="adj" fmla="val 1975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272064" y="3149947"/>
            <a:ext cx="2334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586686" y="3130897"/>
            <a:ext cx="398115" cy="144661"/>
          </a:xfrm>
          <a:prstGeom prst="roundRect">
            <a:avLst>
              <a:gd name="adj" fmla="val 1975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643836" y="3149947"/>
            <a:ext cx="2894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7013377" y="3130897"/>
            <a:ext cx="313432" cy="144661"/>
          </a:xfrm>
          <a:prstGeom prst="roundRect">
            <a:avLst>
              <a:gd name="adj" fmla="val 19753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070527" y="3149947"/>
            <a:ext cx="2031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147667" y="3447008"/>
            <a:ext cx="3615333" cy="474166"/>
          </a:xfrm>
          <a:prstGeom prst="roundRect">
            <a:avLst>
              <a:gd name="adj" fmla="val 12053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252442" y="3551783"/>
            <a:ext cx="34738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5252442" y="3709839"/>
            <a:ext cx="347389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responds correctly to image + text prompt via localhost:1234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2232" y="190500"/>
            <a:ext cx="1236018" cy="209550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36532" y="228600"/>
            <a:ext cx="1027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• WEEKS 2-3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90500" y="347663"/>
            <a:ext cx="381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"/>
            <a:ext cx="23092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Infrastructure</a:t>
            </a:r>
            <a:endParaRPr lang="en-US" sz="2100" dirty="0"/>
          </a:p>
        </p:txBody>
      </p:sp>
      <p:pic>
        <p:nvPicPr>
          <p:cNvPr id="7" name="Image 0" descr="/tmp/rasterized-gradient-490167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676549"/>
            <a:ext cx="2698700" cy="12287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1500" y="1800374"/>
            <a:ext cx="2558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PDF Processing Pipeline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71500" y="199087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6893" y="200426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42950" y="2004268"/>
            <a:ext cx="95910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PDF ingestion module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71500" y="216232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16893" y="217571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42950" y="2175718"/>
            <a:ext cx="12701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page extraction (300 DPI)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71500" y="233377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6893" y="234716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742950" y="2347168"/>
            <a:ext cx="108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quality enhancement filters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71500" y="250522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6893" y="251861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742950" y="2518618"/>
            <a:ext cx="11708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batch processing manager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71500" y="267667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16893" y="269006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42950" y="2690068"/>
            <a:ext cx="9144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unit tests for pipeline</a:t>
            </a:r>
            <a:endParaRPr lang="en-US" sz="600" dirty="0"/>
          </a:p>
        </p:txBody>
      </p:sp>
      <p:pic>
        <p:nvPicPr>
          <p:cNvPr id="24" name="Image 1" descr="/tmp/rasterized-gradient-416163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00" y="1676549"/>
            <a:ext cx="2698700" cy="12287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365450" y="1800374"/>
            <a:ext cx="2558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LM Studio Client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3365450" y="199087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410843" y="200426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3536900" y="2004268"/>
            <a:ext cx="11579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connection manager class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3365450" y="216232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410843" y="217571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3536900" y="2175718"/>
            <a:ext cx="95485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vision request handler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3365450" y="233377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3410843" y="234716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3536900" y="2347168"/>
            <a:ext cx="94619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response parser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3365450" y="250522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410843" y="251861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7" name="Text 33"/>
          <p:cNvSpPr/>
          <p:nvPr/>
        </p:nvSpPr>
        <p:spPr>
          <a:xfrm>
            <a:off x="3536900" y="2518618"/>
            <a:ext cx="9460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retry logic with tenacity</a:t>
            </a:r>
            <a:endParaRPr lang="en-US" sz="600" dirty="0"/>
          </a:p>
        </p:txBody>
      </p:sp>
      <p:sp>
        <p:nvSpPr>
          <p:cNvPr id="38" name="Text 34"/>
          <p:cNvSpPr/>
          <p:nvPr/>
        </p:nvSpPr>
        <p:spPr>
          <a:xfrm>
            <a:off x="3365450" y="267667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410843" y="269006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3536900" y="2690068"/>
            <a:ext cx="9808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health check monitoring</a:t>
            </a:r>
            <a:endParaRPr lang="en-US" sz="600" dirty="0"/>
          </a:p>
        </p:txBody>
      </p:sp>
      <p:pic>
        <p:nvPicPr>
          <p:cNvPr id="41" name="Image 2" descr="/tmp/rasterized-gradient-4e05732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51" y="1676549"/>
            <a:ext cx="2698700" cy="1228725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159401" y="1800374"/>
            <a:ext cx="2558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Schema System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6159401" y="199087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204793" y="200426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45" name="Text 40"/>
          <p:cNvSpPr/>
          <p:nvPr/>
        </p:nvSpPr>
        <p:spPr>
          <a:xfrm>
            <a:off x="6330851" y="2004268"/>
            <a:ext cx="10325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base schema structure</a:t>
            </a:r>
            <a:endParaRPr lang="en-US" sz="600" dirty="0"/>
          </a:p>
        </p:txBody>
      </p:sp>
      <p:sp>
        <p:nvSpPr>
          <p:cNvPr id="46" name="Text 41"/>
          <p:cNvSpPr/>
          <p:nvPr/>
        </p:nvSpPr>
        <p:spPr>
          <a:xfrm>
            <a:off x="6159401" y="216232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6204793" y="217571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48" name="Text 43"/>
          <p:cNvSpPr/>
          <p:nvPr/>
        </p:nvSpPr>
        <p:spPr>
          <a:xfrm>
            <a:off x="6330851" y="2175718"/>
            <a:ext cx="9202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field type validators</a:t>
            </a:r>
            <a:endParaRPr lang="en-US" sz="600" dirty="0"/>
          </a:p>
        </p:txBody>
      </p:sp>
      <p:sp>
        <p:nvSpPr>
          <p:cNvPr id="49" name="Text 44"/>
          <p:cNvSpPr/>
          <p:nvPr/>
        </p:nvSpPr>
        <p:spPr>
          <a:xfrm>
            <a:off x="6159401" y="233377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6204793" y="234716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51" name="Text 46"/>
          <p:cNvSpPr/>
          <p:nvPr/>
        </p:nvSpPr>
        <p:spPr>
          <a:xfrm>
            <a:off x="6330851" y="2347168"/>
            <a:ext cx="8596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CMS-1500 schema</a:t>
            </a:r>
            <a:endParaRPr lang="en-US" sz="600" dirty="0"/>
          </a:p>
        </p:txBody>
      </p:sp>
      <p:sp>
        <p:nvSpPr>
          <p:cNvPr id="52" name="Text 47"/>
          <p:cNvSpPr/>
          <p:nvPr/>
        </p:nvSpPr>
        <p:spPr>
          <a:xfrm>
            <a:off x="6159401" y="250522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6204793" y="251861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54" name="Text 49"/>
          <p:cNvSpPr/>
          <p:nvPr/>
        </p:nvSpPr>
        <p:spPr>
          <a:xfrm>
            <a:off x="6330851" y="2518618"/>
            <a:ext cx="106703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EOB/Remittance schema</a:t>
            </a:r>
            <a:endParaRPr lang="en-US" sz="600" dirty="0"/>
          </a:p>
        </p:txBody>
      </p:sp>
      <p:sp>
        <p:nvSpPr>
          <p:cNvPr id="55" name="Text 50"/>
          <p:cNvSpPr/>
          <p:nvPr/>
        </p:nvSpPr>
        <p:spPr>
          <a:xfrm>
            <a:off x="6159401" y="267667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6204793" y="2690068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57" name="Text 52"/>
          <p:cNvSpPr/>
          <p:nvPr/>
        </p:nvSpPr>
        <p:spPr>
          <a:xfrm>
            <a:off x="6330851" y="2690068"/>
            <a:ext cx="9202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cross-field rule engine</a:t>
            </a:r>
            <a:endParaRPr lang="en-US" sz="600" dirty="0"/>
          </a:p>
        </p:txBody>
      </p:sp>
      <p:sp>
        <p:nvSpPr>
          <p:cNvPr id="58" name="Text 53"/>
          <p:cNvSpPr/>
          <p:nvPr/>
        </p:nvSpPr>
        <p:spPr>
          <a:xfrm>
            <a:off x="476250" y="2981474"/>
            <a:ext cx="8286750" cy="784622"/>
          </a:xfrm>
          <a:prstGeom prst="roundRect">
            <a:avLst>
              <a:gd name="adj" fmla="val 72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4"/>
          <p:cNvSpPr/>
          <p:nvPr/>
        </p:nvSpPr>
        <p:spPr>
          <a:xfrm>
            <a:off x="571500" y="3076724"/>
            <a:ext cx="82581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HEALTHCARE RCM SCHEMAS</a:t>
            </a:r>
            <a:endParaRPr lang="en-US" sz="675" dirty="0"/>
          </a:p>
        </p:txBody>
      </p:sp>
      <p:sp>
        <p:nvSpPr>
          <p:cNvPr id="60" name="Text 55"/>
          <p:cNvSpPr/>
          <p:nvPr/>
        </p:nvSpPr>
        <p:spPr>
          <a:xfrm>
            <a:off x="571500" y="3253829"/>
            <a:ext cx="2647950" cy="417016"/>
          </a:xfrm>
          <a:prstGeom prst="roundRect">
            <a:avLst>
              <a:gd name="adj" fmla="val 91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657225" y="3339554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Claim</a:t>
            </a:r>
            <a:endParaRPr lang="en-US" sz="675" dirty="0"/>
          </a:p>
        </p:txBody>
      </p:sp>
      <p:sp>
        <p:nvSpPr>
          <p:cNvPr id="62" name="Text 57"/>
          <p:cNvSpPr/>
          <p:nvPr/>
        </p:nvSpPr>
        <p:spPr>
          <a:xfrm>
            <a:off x="657225" y="3478560"/>
            <a:ext cx="25260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CMS-1500 / UB-04 • ICD-10 • CPT codes</a:t>
            </a:r>
            <a:endParaRPr lang="en-US" sz="600" dirty="0"/>
          </a:p>
        </p:txBody>
      </p:sp>
      <p:sp>
        <p:nvSpPr>
          <p:cNvPr id="63" name="Text 58"/>
          <p:cNvSpPr/>
          <p:nvPr/>
        </p:nvSpPr>
        <p:spPr>
          <a:xfrm>
            <a:off x="3295650" y="3253829"/>
            <a:ext cx="2647950" cy="417016"/>
          </a:xfrm>
          <a:prstGeom prst="roundRect">
            <a:avLst>
              <a:gd name="adj" fmla="val 91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9"/>
          <p:cNvSpPr/>
          <p:nvPr/>
        </p:nvSpPr>
        <p:spPr>
          <a:xfrm>
            <a:off x="3381375" y="3339554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EOB / Remittance</a:t>
            </a:r>
            <a:endParaRPr lang="en-US" sz="675" dirty="0"/>
          </a:p>
        </p:txBody>
      </p:sp>
      <p:sp>
        <p:nvSpPr>
          <p:cNvPr id="65" name="Text 60"/>
          <p:cNvSpPr/>
          <p:nvPr/>
        </p:nvSpPr>
        <p:spPr>
          <a:xfrm>
            <a:off x="3381375" y="3478560"/>
            <a:ext cx="25260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• Adjustments • Reason codes</a:t>
            </a:r>
            <a:endParaRPr lang="en-US" sz="600" dirty="0"/>
          </a:p>
        </p:txBody>
      </p:sp>
      <p:sp>
        <p:nvSpPr>
          <p:cNvPr id="66" name="Text 61"/>
          <p:cNvSpPr/>
          <p:nvPr/>
        </p:nvSpPr>
        <p:spPr>
          <a:xfrm>
            <a:off x="6019800" y="3253829"/>
            <a:ext cx="2647950" cy="417016"/>
          </a:xfrm>
          <a:prstGeom prst="roundRect">
            <a:avLst>
              <a:gd name="adj" fmla="val 91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2"/>
          <p:cNvSpPr/>
          <p:nvPr/>
        </p:nvSpPr>
        <p:spPr>
          <a:xfrm>
            <a:off x="6105525" y="3339554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Report</a:t>
            </a:r>
            <a:endParaRPr lang="en-US" sz="675" dirty="0"/>
          </a:p>
        </p:txBody>
      </p:sp>
      <p:sp>
        <p:nvSpPr>
          <p:cNvPr id="68" name="Text 63"/>
          <p:cNvSpPr/>
          <p:nvPr/>
        </p:nvSpPr>
        <p:spPr>
          <a:xfrm>
            <a:off x="6105525" y="3478560"/>
            <a:ext cx="25260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• Reference ranges • Flags</a:t>
            </a:r>
            <a:endParaRPr lang="en-US" sz="600" dirty="0"/>
          </a:p>
        </p:txBody>
      </p:sp>
      <p:sp>
        <p:nvSpPr>
          <p:cNvPr id="69" name="Text 64"/>
          <p:cNvSpPr/>
          <p:nvPr/>
        </p:nvSpPr>
        <p:spPr>
          <a:xfrm>
            <a:off x="476250" y="3842296"/>
            <a:ext cx="8286750" cy="272355"/>
          </a:xfrm>
          <a:prstGeom prst="roundRect">
            <a:avLst>
              <a:gd name="adj" fmla="val 2098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5"/>
          <p:cNvSpPr/>
          <p:nvPr/>
        </p:nvSpPr>
        <p:spPr>
          <a:xfrm>
            <a:off x="552450" y="394989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6"/>
          <p:cNvSpPr/>
          <p:nvPr/>
        </p:nvSpPr>
        <p:spPr>
          <a:xfrm>
            <a:off x="647700" y="3925193"/>
            <a:ext cx="51841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processor</a:t>
            </a:r>
            <a:endParaRPr lang="en-US" sz="600" dirty="0"/>
          </a:p>
        </p:txBody>
      </p:sp>
      <p:sp>
        <p:nvSpPr>
          <p:cNvPr id="72" name="Text 67"/>
          <p:cNvSpPr/>
          <p:nvPr/>
        </p:nvSpPr>
        <p:spPr>
          <a:xfrm>
            <a:off x="1270248" y="394989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8"/>
          <p:cNvSpPr/>
          <p:nvPr/>
        </p:nvSpPr>
        <p:spPr>
          <a:xfrm>
            <a:off x="1365498" y="3925193"/>
            <a:ext cx="3110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 client</a:t>
            </a:r>
            <a:endParaRPr lang="en-US" sz="600" dirty="0"/>
          </a:p>
        </p:txBody>
      </p:sp>
      <p:sp>
        <p:nvSpPr>
          <p:cNvPr id="74" name="Text 69"/>
          <p:cNvSpPr/>
          <p:nvPr/>
        </p:nvSpPr>
        <p:spPr>
          <a:xfrm>
            <a:off x="1784747" y="394989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0"/>
          <p:cNvSpPr/>
          <p:nvPr/>
        </p:nvSpPr>
        <p:spPr>
          <a:xfrm>
            <a:off x="1879997" y="3925193"/>
            <a:ext cx="51841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library</a:t>
            </a:r>
            <a:endParaRPr lang="en-US" sz="600" dirty="0"/>
          </a:p>
        </p:txBody>
      </p:sp>
      <p:sp>
        <p:nvSpPr>
          <p:cNvPr id="76" name="Text 71"/>
          <p:cNvSpPr/>
          <p:nvPr/>
        </p:nvSpPr>
        <p:spPr>
          <a:xfrm>
            <a:off x="2502545" y="394989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2"/>
          <p:cNvSpPr/>
          <p:nvPr/>
        </p:nvSpPr>
        <p:spPr>
          <a:xfrm>
            <a:off x="2597795" y="3925193"/>
            <a:ext cx="32395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600" dirty="0"/>
          </a:p>
        </p:txBody>
      </p:sp>
      <p:sp>
        <p:nvSpPr>
          <p:cNvPr id="78" name="Text 73"/>
          <p:cNvSpPr/>
          <p:nvPr/>
        </p:nvSpPr>
        <p:spPr>
          <a:xfrm>
            <a:off x="8024664" y="3918496"/>
            <a:ext cx="6753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2232" y="190500"/>
            <a:ext cx="1236018" cy="20955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36532" y="228600"/>
            <a:ext cx="1027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• WEEKS 4-6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90500" y="347663"/>
            <a:ext cx="381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"/>
            <a:ext cx="39586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4-Agent Framework Development</a:t>
            </a:r>
            <a:endParaRPr lang="en-US" sz="2100" dirty="0"/>
          </a:p>
        </p:txBody>
      </p:sp>
      <p:pic>
        <p:nvPicPr>
          <p:cNvPr id="7" name="Image 0" descr="/tmp/rasterized-gradient-bbd9a4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627287"/>
            <a:ext cx="2014538" cy="1357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600" y="1722537"/>
            <a:ext cx="18216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ORCHESTRATOR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609600" y="1899642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Setup LangGraph project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09600" y="2034778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Define state machine states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09600" y="2169914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Build transition logic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09600" y="2305050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checkpointing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09600" y="2440186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error handling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09600" y="2575322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Create retry policies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09600" y="2739033"/>
            <a:ext cx="458986" cy="150465"/>
          </a:xfrm>
          <a:prstGeom prst="roundRect">
            <a:avLst>
              <a:gd name="adj" fmla="val 1899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66750" y="2767608"/>
            <a:ext cx="3515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VLM calls</a:t>
            </a:r>
            <a:endParaRPr lang="en-US" sz="525" dirty="0"/>
          </a:p>
        </p:txBody>
      </p:sp>
      <p:pic>
        <p:nvPicPr>
          <p:cNvPr id="17" name="Image 1" descr="/tmp/rasterized-gradient-59e4f3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8" y="1627287"/>
            <a:ext cx="2014538" cy="13574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00338" y="1722537"/>
            <a:ext cx="18216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4-5: ANALYZER</a:t>
            </a:r>
            <a:endParaRPr lang="en-US" sz="675" dirty="0"/>
          </a:p>
        </p:txBody>
      </p:sp>
      <p:sp>
        <p:nvSpPr>
          <p:cNvPr id="19" name="Text 15"/>
          <p:cNvSpPr/>
          <p:nvPr/>
        </p:nvSpPr>
        <p:spPr>
          <a:xfrm>
            <a:off x="2700338" y="1899642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agent base class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2700338" y="2034778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Build classification prompt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2700338" y="2169914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 structure detector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2700338" y="2305050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Add page relationship logic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2700338" y="2440186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Build schema selector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2700338" y="2575322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Test with sample docs</a:t>
            </a:r>
            <a:endParaRPr lang="en-US" sz="600" dirty="0"/>
          </a:p>
        </p:txBody>
      </p:sp>
      <p:sp>
        <p:nvSpPr>
          <p:cNvPr id="25" name="Text 21"/>
          <p:cNvSpPr/>
          <p:nvPr/>
        </p:nvSpPr>
        <p:spPr>
          <a:xfrm>
            <a:off x="2700338" y="2739033"/>
            <a:ext cx="551706" cy="150465"/>
          </a:xfrm>
          <a:prstGeom prst="roundRect">
            <a:avLst>
              <a:gd name="adj" fmla="val 18991"/>
            </a:avLst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757488" y="2767608"/>
            <a:ext cx="44615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VLM call/doc</a:t>
            </a:r>
            <a:endParaRPr lang="en-US" sz="525" dirty="0"/>
          </a:p>
        </p:txBody>
      </p:sp>
      <p:pic>
        <p:nvPicPr>
          <p:cNvPr id="27" name="Image 2" descr="/tmp/rasterized-gradient-c86c79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1627287"/>
            <a:ext cx="2014538" cy="135746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91075" y="1722537"/>
            <a:ext cx="18216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EXTRACTOR</a:t>
            </a:r>
            <a:endParaRPr lang="en-US" sz="675" dirty="0"/>
          </a:p>
        </p:txBody>
      </p:sp>
      <p:sp>
        <p:nvSpPr>
          <p:cNvPr id="29" name="Text 24"/>
          <p:cNvSpPr/>
          <p:nvPr/>
        </p:nvSpPr>
        <p:spPr>
          <a:xfrm>
            <a:off x="4791075" y="1899642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Build extraction prompt</a:t>
            </a:r>
            <a:endParaRPr lang="en-US" sz="600" dirty="0"/>
          </a:p>
        </p:txBody>
      </p:sp>
      <p:sp>
        <p:nvSpPr>
          <p:cNvPr id="30" name="Text 25"/>
          <p:cNvSpPr/>
          <p:nvPr/>
        </p:nvSpPr>
        <p:spPr>
          <a:xfrm>
            <a:off x="4791075" y="2034778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Implement dual-pass logic</a:t>
            </a:r>
            <a:endParaRPr lang="en-US" sz="600" dirty="0"/>
          </a:p>
        </p:txBody>
      </p:sp>
      <p:sp>
        <p:nvSpPr>
          <p:cNvPr id="31" name="Text 26"/>
          <p:cNvSpPr/>
          <p:nvPr/>
        </p:nvSpPr>
        <p:spPr>
          <a:xfrm>
            <a:off x="4791075" y="2169914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Add field comparison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4791075" y="2305050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Create confidence scorer</a:t>
            </a:r>
            <a:endParaRPr lang="en-US" sz="600" dirty="0"/>
          </a:p>
        </p:txBody>
      </p:sp>
      <p:sp>
        <p:nvSpPr>
          <p:cNvPr id="33" name="Text 28"/>
          <p:cNvSpPr/>
          <p:nvPr/>
        </p:nvSpPr>
        <p:spPr>
          <a:xfrm>
            <a:off x="4791075" y="2440186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visual grounding</a:t>
            </a:r>
            <a:endParaRPr lang="en-US" sz="600" dirty="0"/>
          </a:p>
        </p:txBody>
      </p:sp>
      <p:sp>
        <p:nvSpPr>
          <p:cNvPr id="34" name="Text 29"/>
          <p:cNvSpPr/>
          <p:nvPr/>
        </p:nvSpPr>
        <p:spPr>
          <a:xfrm>
            <a:off x="4791075" y="2575322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Handle table extraction</a:t>
            </a:r>
            <a:endParaRPr lang="en-US" sz="600" dirty="0"/>
          </a:p>
        </p:txBody>
      </p:sp>
      <p:sp>
        <p:nvSpPr>
          <p:cNvPr id="35" name="Text 30"/>
          <p:cNvSpPr/>
          <p:nvPr/>
        </p:nvSpPr>
        <p:spPr>
          <a:xfrm>
            <a:off x="4791075" y="2739033"/>
            <a:ext cx="625822" cy="150465"/>
          </a:xfrm>
          <a:prstGeom prst="roundRect">
            <a:avLst>
              <a:gd name="adj" fmla="val 18991"/>
            </a:avLst>
          </a:prstGeom>
          <a:solidFill>
            <a:srgbClr val="065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848225" y="2767608"/>
            <a:ext cx="52175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VLM calls/page</a:t>
            </a:r>
            <a:endParaRPr lang="en-US" sz="525" dirty="0"/>
          </a:p>
        </p:txBody>
      </p:sp>
      <p:pic>
        <p:nvPicPr>
          <p:cNvPr id="37" name="Image 3" descr="/tmp/rasterized-gradient-0e7b589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463" y="1627287"/>
            <a:ext cx="2014538" cy="1357461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881813" y="1722537"/>
            <a:ext cx="18216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VALIDATOR</a:t>
            </a:r>
            <a:endParaRPr lang="en-US" sz="675" dirty="0"/>
          </a:p>
        </p:txBody>
      </p:sp>
      <p:sp>
        <p:nvSpPr>
          <p:cNvPr id="39" name="Text 33"/>
          <p:cNvSpPr/>
          <p:nvPr/>
        </p:nvSpPr>
        <p:spPr>
          <a:xfrm>
            <a:off x="6881813" y="1899642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Build schema validator</a:t>
            </a:r>
            <a:endParaRPr lang="en-US" sz="600" dirty="0"/>
          </a:p>
        </p:txBody>
      </p:sp>
      <p:sp>
        <p:nvSpPr>
          <p:cNvPr id="40" name="Text 34"/>
          <p:cNvSpPr/>
          <p:nvPr/>
        </p:nvSpPr>
        <p:spPr>
          <a:xfrm>
            <a:off x="6881813" y="2034778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pattern detection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6881813" y="2169914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 cross-field rules</a:t>
            </a:r>
            <a:endParaRPr lang="en-US" sz="600" dirty="0"/>
          </a:p>
        </p:txBody>
      </p:sp>
      <p:sp>
        <p:nvSpPr>
          <p:cNvPr id="42" name="Text 36"/>
          <p:cNvSpPr/>
          <p:nvPr/>
        </p:nvSpPr>
        <p:spPr>
          <a:xfrm>
            <a:off x="6881813" y="2305050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Build cross-page merger</a:t>
            </a:r>
            <a:endParaRPr lang="en-US" sz="600" dirty="0"/>
          </a:p>
        </p:txBody>
      </p:sp>
      <p:sp>
        <p:nvSpPr>
          <p:cNvPr id="43" name="Text 37"/>
          <p:cNvSpPr/>
          <p:nvPr/>
        </p:nvSpPr>
        <p:spPr>
          <a:xfrm>
            <a:off x="6881813" y="2440186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confidence calibration</a:t>
            </a:r>
            <a:endParaRPr lang="en-US" sz="600" dirty="0"/>
          </a:p>
        </p:txBody>
      </p:sp>
      <p:sp>
        <p:nvSpPr>
          <p:cNvPr id="44" name="Text 38"/>
          <p:cNvSpPr/>
          <p:nvPr/>
        </p:nvSpPr>
        <p:spPr>
          <a:xfrm>
            <a:off x="6881813" y="2575322"/>
            <a:ext cx="18216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Create output formatter</a:t>
            </a:r>
            <a:endParaRPr lang="en-US" sz="600" dirty="0"/>
          </a:p>
        </p:txBody>
      </p:sp>
      <p:sp>
        <p:nvSpPr>
          <p:cNvPr id="45" name="Text 39"/>
          <p:cNvSpPr/>
          <p:nvPr/>
        </p:nvSpPr>
        <p:spPr>
          <a:xfrm>
            <a:off x="6881813" y="2739033"/>
            <a:ext cx="610939" cy="150465"/>
          </a:xfrm>
          <a:prstGeom prst="roundRect">
            <a:avLst>
              <a:gd name="adj" fmla="val 18991"/>
            </a:avLst>
          </a:prstGeom>
          <a:solidFill>
            <a:srgbClr val="9D1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6938963" y="2767608"/>
            <a:ext cx="50657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 VLM call/doc</a:t>
            </a:r>
            <a:endParaRPr lang="en-US" sz="525" dirty="0"/>
          </a:p>
        </p:txBody>
      </p:sp>
      <p:sp>
        <p:nvSpPr>
          <p:cNvPr id="47" name="Text 41"/>
          <p:cNvSpPr/>
          <p:nvPr/>
        </p:nvSpPr>
        <p:spPr>
          <a:xfrm>
            <a:off x="476250" y="3060948"/>
            <a:ext cx="8286750" cy="520005"/>
          </a:xfrm>
          <a:prstGeom prst="roundRect">
            <a:avLst>
              <a:gd name="adj" fmla="val 109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571500" y="3156198"/>
            <a:ext cx="82581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 PRINCIPLES</a:t>
            </a:r>
            <a:endParaRPr lang="en-US" sz="675" dirty="0"/>
          </a:p>
        </p:txBody>
      </p:sp>
      <p:sp>
        <p:nvSpPr>
          <p:cNvPr id="49" name="Text 43"/>
          <p:cNvSpPr/>
          <p:nvPr/>
        </p:nvSpPr>
        <p:spPr>
          <a:xfrm>
            <a:off x="571500" y="3333304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626418" y="3356223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1" name="Text 45"/>
          <p:cNvSpPr/>
          <p:nvPr/>
        </p:nvSpPr>
        <p:spPr>
          <a:xfrm>
            <a:off x="781050" y="3356223"/>
            <a:ext cx="78604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</a:t>
            </a:r>
            <a:endParaRPr lang="en-US" sz="600" dirty="0"/>
          </a:p>
        </p:txBody>
      </p:sp>
      <p:sp>
        <p:nvSpPr>
          <p:cNvPr id="52" name="Text 46"/>
          <p:cNvSpPr/>
          <p:nvPr/>
        </p:nvSpPr>
        <p:spPr>
          <a:xfrm>
            <a:off x="1704082" y="3333304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1759000" y="3356223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54" name="Text 48"/>
          <p:cNvSpPr/>
          <p:nvPr/>
        </p:nvSpPr>
        <p:spPr>
          <a:xfrm>
            <a:off x="1913632" y="3356223"/>
            <a:ext cx="7732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Operations</a:t>
            </a:r>
            <a:endParaRPr lang="en-US" sz="600" dirty="0"/>
          </a:p>
        </p:txBody>
      </p:sp>
      <p:sp>
        <p:nvSpPr>
          <p:cNvPr id="55" name="Text 49"/>
          <p:cNvSpPr/>
          <p:nvPr/>
        </p:nvSpPr>
        <p:spPr>
          <a:xfrm>
            <a:off x="2824163" y="3333304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2879080" y="3356223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57" name="Text 51"/>
          <p:cNvSpPr/>
          <p:nvPr/>
        </p:nvSpPr>
        <p:spPr>
          <a:xfrm>
            <a:off x="3033713" y="3356223"/>
            <a:ext cx="73412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600" dirty="0"/>
          </a:p>
        </p:txBody>
      </p:sp>
      <p:sp>
        <p:nvSpPr>
          <p:cNvPr id="58" name="Text 52"/>
          <p:cNvSpPr/>
          <p:nvPr/>
        </p:nvSpPr>
        <p:spPr>
          <a:xfrm>
            <a:off x="3905845" y="3333304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3"/>
          <p:cNvSpPr/>
          <p:nvPr/>
        </p:nvSpPr>
        <p:spPr>
          <a:xfrm>
            <a:off x="3960763" y="3356223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60" name="Text 54"/>
          <p:cNvSpPr/>
          <p:nvPr/>
        </p:nvSpPr>
        <p:spPr>
          <a:xfrm>
            <a:off x="4115395" y="3356223"/>
            <a:ext cx="7904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</a:t>
            </a:r>
            <a:endParaRPr lang="en-US" sz="600" dirty="0"/>
          </a:p>
        </p:txBody>
      </p:sp>
      <p:pic>
        <p:nvPicPr>
          <p:cNvPr id="61" name="Image 4" descr="/tmp/rasterized-gradient-478c60a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657154"/>
            <a:ext cx="8286750" cy="506611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571500" y="3780979"/>
            <a:ext cx="2454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 MACHINE</a:t>
            </a:r>
            <a:endParaRPr lang="en-US" sz="750" dirty="0"/>
          </a:p>
        </p:txBody>
      </p:sp>
      <p:sp>
        <p:nvSpPr>
          <p:cNvPr id="63" name="Text 56"/>
          <p:cNvSpPr/>
          <p:nvPr/>
        </p:nvSpPr>
        <p:spPr>
          <a:xfrm>
            <a:off x="571500" y="3933379"/>
            <a:ext cx="24545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→ ANALYZE → EXTRACT → VALIDATE → COMPLETE/REVIEW</a:t>
            </a:r>
            <a:endParaRPr lang="en-US" sz="600" dirty="0"/>
          </a:p>
        </p:txBody>
      </p:sp>
      <p:sp>
        <p:nvSpPr>
          <p:cNvPr id="64" name="Text 57"/>
          <p:cNvSpPr/>
          <p:nvPr/>
        </p:nvSpPr>
        <p:spPr>
          <a:xfrm>
            <a:off x="7357318" y="3752404"/>
            <a:ext cx="341561" cy="316111"/>
          </a:xfrm>
          <a:prstGeom prst="roundRect">
            <a:avLst>
              <a:gd name="adj" fmla="val 1205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7431627" y="3790504"/>
            <a:ext cx="1929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" dirty="0"/>
          </a:p>
        </p:txBody>
      </p:sp>
      <p:sp>
        <p:nvSpPr>
          <p:cNvPr id="66" name="Text 59"/>
          <p:cNvSpPr/>
          <p:nvPr/>
        </p:nvSpPr>
        <p:spPr>
          <a:xfrm>
            <a:off x="7431627" y="3937099"/>
            <a:ext cx="19294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</a:t>
            </a:r>
            <a:endParaRPr lang="en-US" sz="525" dirty="0"/>
          </a:p>
        </p:txBody>
      </p:sp>
      <p:sp>
        <p:nvSpPr>
          <p:cNvPr id="67" name="Text 60"/>
          <p:cNvSpPr/>
          <p:nvPr/>
        </p:nvSpPr>
        <p:spPr>
          <a:xfrm>
            <a:off x="7775079" y="3752404"/>
            <a:ext cx="360015" cy="316111"/>
          </a:xfrm>
          <a:prstGeom prst="roundRect">
            <a:avLst>
              <a:gd name="adj" fmla="val 1205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1"/>
          <p:cNvSpPr/>
          <p:nvPr/>
        </p:nvSpPr>
        <p:spPr>
          <a:xfrm>
            <a:off x="7849203" y="3790504"/>
            <a:ext cx="2117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69" name="Text 62"/>
          <p:cNvSpPr/>
          <p:nvPr/>
        </p:nvSpPr>
        <p:spPr>
          <a:xfrm>
            <a:off x="7849203" y="3937099"/>
            <a:ext cx="21176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525" dirty="0"/>
          </a:p>
        </p:txBody>
      </p:sp>
      <p:sp>
        <p:nvSpPr>
          <p:cNvPr id="70" name="Text 63"/>
          <p:cNvSpPr/>
          <p:nvPr/>
        </p:nvSpPr>
        <p:spPr>
          <a:xfrm>
            <a:off x="8211294" y="3752404"/>
            <a:ext cx="456456" cy="316111"/>
          </a:xfrm>
          <a:prstGeom prst="roundRect">
            <a:avLst>
              <a:gd name="adj" fmla="val 1205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4"/>
          <p:cNvSpPr/>
          <p:nvPr/>
        </p:nvSpPr>
        <p:spPr>
          <a:xfrm>
            <a:off x="8284454" y="3790504"/>
            <a:ext cx="3101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</a:t>
            </a:r>
            <a:endParaRPr lang="en-US" sz="825" dirty="0"/>
          </a:p>
        </p:txBody>
      </p:sp>
      <p:sp>
        <p:nvSpPr>
          <p:cNvPr id="72" name="Text 65"/>
          <p:cNvSpPr/>
          <p:nvPr/>
        </p:nvSpPr>
        <p:spPr>
          <a:xfrm>
            <a:off x="8284454" y="3937099"/>
            <a:ext cx="31013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VLM/page</a:t>
            </a:r>
            <a:endParaRPr lang="en-US" sz="5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2232" y="190500"/>
            <a:ext cx="1236018" cy="20955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36532" y="228600"/>
            <a:ext cx="1027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• WEEKS 7-8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90500" y="347663"/>
            <a:ext cx="381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"/>
            <a:ext cx="40604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3-Layer Anti-Hallucination System</a:t>
            </a:r>
            <a:endParaRPr lang="en-US" sz="2100" dirty="0"/>
          </a:p>
        </p:txBody>
      </p:sp>
      <p:pic>
        <p:nvPicPr>
          <p:cNvPr id="7" name="Image 0" descr="/tmp/rasterized-gradient-e6b2cf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324421"/>
            <a:ext cx="2686050" cy="164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8650" y="147682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30151" y="1530102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71550" y="1530102"/>
            <a:ext cx="11142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8650" y="1819721"/>
            <a:ext cx="24288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all agent prompts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628650" y="2015877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instructions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28650" y="2160538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guess rules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28650" y="2305199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null if unsure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28650" y="2449860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 format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28650" y="2632621"/>
            <a:ext cx="2381250" cy="182761"/>
          </a:xfrm>
          <a:prstGeom prst="roundRect">
            <a:avLst>
              <a:gd name="adj" fmla="val 20847"/>
            </a:avLst>
          </a:prstGeom>
          <a:solidFill>
            <a:srgbClr val="FECA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04850" y="2670721"/>
            <a:ext cx="227342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All Agents</a:t>
            </a:r>
            <a:endParaRPr lang="en-US" sz="600" dirty="0"/>
          </a:p>
        </p:txBody>
      </p:sp>
      <p:pic>
        <p:nvPicPr>
          <p:cNvPr id="18" name="Image 1" descr="/tmp/rasterized-gradient-cd650e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324421"/>
            <a:ext cx="2686050" cy="1643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29000" y="147682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530501" y="1530102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771900" y="1530102"/>
            <a:ext cx="1166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Dual-Pass Extraction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429000" y="1819721"/>
            <a:ext cx="24288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in Extractor Agent</a:t>
            </a:r>
            <a:endParaRPr lang="en-US" sz="675" dirty="0"/>
          </a:p>
        </p:txBody>
      </p:sp>
      <p:sp>
        <p:nvSpPr>
          <p:cNvPr id="23" name="Text 19"/>
          <p:cNvSpPr/>
          <p:nvPr/>
        </p:nvSpPr>
        <p:spPr>
          <a:xfrm>
            <a:off x="3429000" y="2015877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extraction passes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3429000" y="2160538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prompt variations</a:t>
            </a:r>
            <a:endParaRPr lang="en-US" sz="600" dirty="0"/>
          </a:p>
        </p:txBody>
      </p:sp>
      <p:sp>
        <p:nvSpPr>
          <p:cNvPr id="25" name="Text 21"/>
          <p:cNvSpPr/>
          <p:nvPr/>
        </p:nvSpPr>
        <p:spPr>
          <a:xfrm>
            <a:off x="3429000" y="2305199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Field-by-field comparison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3429000" y="2449860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 flagging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3429000" y="2632621"/>
            <a:ext cx="2381250" cy="182761"/>
          </a:xfrm>
          <a:prstGeom prst="roundRect">
            <a:avLst>
              <a:gd name="adj" fmla="val 20847"/>
            </a:avLst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505200" y="2670721"/>
            <a:ext cx="227342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Extractor Agent</a:t>
            </a:r>
            <a:endParaRPr lang="en-US" sz="600" dirty="0"/>
          </a:p>
        </p:txBody>
      </p:sp>
      <p:pic>
        <p:nvPicPr>
          <p:cNvPr id="29" name="Image 2" descr="/tmp/rasterized-gradient-bf3449d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50" y="1324421"/>
            <a:ext cx="2686050" cy="16433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29350" y="147682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6330851" y="1530102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572250" y="1530102"/>
            <a:ext cx="1370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+ Rule Validation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229350" y="1819721"/>
            <a:ext cx="24288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in Validator Agent</a:t>
            </a:r>
            <a:endParaRPr lang="en-US" sz="675" dirty="0"/>
          </a:p>
        </p:txBody>
      </p:sp>
      <p:sp>
        <p:nvSpPr>
          <p:cNvPr id="34" name="Text 29"/>
          <p:cNvSpPr/>
          <p:nvPr/>
        </p:nvSpPr>
        <p:spPr>
          <a:xfrm>
            <a:off x="6229350" y="2015877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value detection</a:t>
            </a:r>
            <a:endParaRPr lang="en-US" sz="600" dirty="0"/>
          </a:p>
        </p:txBody>
      </p:sp>
      <p:sp>
        <p:nvSpPr>
          <p:cNvPr id="35" name="Text 30"/>
          <p:cNvSpPr/>
          <p:nvPr/>
        </p:nvSpPr>
        <p:spPr>
          <a:xfrm>
            <a:off x="6229350" y="2160538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Cross-field consistency</a:t>
            </a:r>
            <a:endParaRPr lang="en-US" sz="600" dirty="0"/>
          </a:p>
        </p:txBody>
      </p:sp>
      <p:sp>
        <p:nvSpPr>
          <p:cNvPr id="36" name="Text 31"/>
          <p:cNvSpPr/>
          <p:nvPr/>
        </p:nvSpPr>
        <p:spPr>
          <a:xfrm>
            <a:off x="6229350" y="2305199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validation (NPI, ICD)</a:t>
            </a:r>
            <a:endParaRPr lang="en-US" sz="600" dirty="0"/>
          </a:p>
        </p:txBody>
      </p:sp>
      <p:sp>
        <p:nvSpPr>
          <p:cNvPr id="37" name="Text 32"/>
          <p:cNvSpPr/>
          <p:nvPr/>
        </p:nvSpPr>
        <p:spPr>
          <a:xfrm>
            <a:off x="6229350" y="2449860"/>
            <a:ext cx="2428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and date logic checks</a:t>
            </a:r>
            <a:endParaRPr lang="en-US" sz="600" dirty="0"/>
          </a:p>
        </p:txBody>
      </p:sp>
      <p:sp>
        <p:nvSpPr>
          <p:cNvPr id="38" name="Text 33"/>
          <p:cNvSpPr/>
          <p:nvPr/>
        </p:nvSpPr>
        <p:spPr>
          <a:xfrm>
            <a:off x="6229350" y="2632621"/>
            <a:ext cx="2381250" cy="182761"/>
          </a:xfrm>
          <a:prstGeom prst="roundRect">
            <a:avLst>
              <a:gd name="adj" fmla="val 20847"/>
            </a:avLst>
          </a:prstGeom>
          <a:solidFill>
            <a:srgbClr val="A7F3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305550" y="2670721"/>
            <a:ext cx="227342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Validator Agent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476250" y="3063032"/>
            <a:ext cx="8286750" cy="845641"/>
          </a:xfrm>
          <a:prstGeom prst="roundRect">
            <a:avLst>
              <a:gd name="adj" fmla="val 675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571500" y="3158282"/>
            <a:ext cx="82581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 ACTIONS</a:t>
            </a:r>
            <a:endParaRPr lang="en-US" sz="675" dirty="0"/>
          </a:p>
        </p:txBody>
      </p:sp>
      <p:sp>
        <p:nvSpPr>
          <p:cNvPr id="42" name="Text 37"/>
          <p:cNvSpPr/>
          <p:nvPr/>
        </p:nvSpPr>
        <p:spPr>
          <a:xfrm>
            <a:off x="571500" y="3335387"/>
            <a:ext cx="1573560" cy="478036"/>
          </a:xfrm>
          <a:prstGeom prst="roundRect">
            <a:avLst>
              <a:gd name="adj" fmla="val 797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633488" y="3411587"/>
            <a:ext cx="14495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0.95+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33488" y="3617268"/>
            <a:ext cx="144958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Auto-Accept</a:t>
            </a:r>
            <a:endParaRPr lang="en-US" sz="675" dirty="0"/>
          </a:p>
        </p:txBody>
      </p:sp>
      <p:sp>
        <p:nvSpPr>
          <p:cNvPr id="45" name="Text 40"/>
          <p:cNvSpPr/>
          <p:nvPr/>
        </p:nvSpPr>
        <p:spPr>
          <a:xfrm>
            <a:off x="2202210" y="3335387"/>
            <a:ext cx="1573560" cy="478036"/>
          </a:xfrm>
          <a:prstGeom prst="roundRect">
            <a:avLst>
              <a:gd name="adj" fmla="val 797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2264198" y="3411587"/>
            <a:ext cx="14495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0.85-0.94</a:t>
            </a:r>
            <a:endParaRPr lang="en-US" sz="1050" dirty="0"/>
          </a:p>
        </p:txBody>
      </p:sp>
      <p:sp>
        <p:nvSpPr>
          <p:cNvPr id="47" name="Text 42"/>
          <p:cNvSpPr/>
          <p:nvPr/>
        </p:nvSpPr>
        <p:spPr>
          <a:xfrm>
            <a:off x="2264198" y="3617268"/>
            <a:ext cx="144958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+ Note</a:t>
            </a:r>
            <a:endParaRPr lang="en-US" sz="675" dirty="0"/>
          </a:p>
        </p:txBody>
      </p:sp>
      <p:sp>
        <p:nvSpPr>
          <p:cNvPr id="48" name="Text 43"/>
          <p:cNvSpPr/>
          <p:nvPr/>
        </p:nvSpPr>
        <p:spPr>
          <a:xfrm>
            <a:off x="3832920" y="3335387"/>
            <a:ext cx="1573560" cy="478036"/>
          </a:xfrm>
          <a:prstGeom prst="roundRect">
            <a:avLst>
              <a:gd name="adj" fmla="val 797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3894908" y="3411587"/>
            <a:ext cx="14495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0.70-0.84</a:t>
            </a:r>
            <a:endParaRPr lang="en-US" sz="1050" dirty="0"/>
          </a:p>
        </p:txBody>
      </p:sp>
      <p:sp>
        <p:nvSpPr>
          <p:cNvPr id="50" name="Text 45"/>
          <p:cNvSpPr/>
          <p:nvPr/>
        </p:nvSpPr>
        <p:spPr>
          <a:xfrm>
            <a:off x="3894908" y="3617268"/>
            <a:ext cx="144958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675" dirty="0"/>
          </a:p>
        </p:txBody>
      </p:sp>
      <p:sp>
        <p:nvSpPr>
          <p:cNvPr id="51" name="Text 46"/>
          <p:cNvSpPr/>
          <p:nvPr/>
        </p:nvSpPr>
        <p:spPr>
          <a:xfrm>
            <a:off x="5463629" y="3335387"/>
            <a:ext cx="1573560" cy="478036"/>
          </a:xfrm>
          <a:prstGeom prst="roundRect">
            <a:avLst>
              <a:gd name="adj" fmla="val 7970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5525618" y="3411587"/>
            <a:ext cx="14495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0.50-0.69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5525618" y="3617268"/>
            <a:ext cx="144958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Re-Extract</a:t>
            </a:r>
            <a:endParaRPr lang="en-US" sz="675" dirty="0"/>
          </a:p>
        </p:txBody>
      </p:sp>
      <p:sp>
        <p:nvSpPr>
          <p:cNvPr id="54" name="Text 49"/>
          <p:cNvSpPr/>
          <p:nvPr/>
        </p:nvSpPr>
        <p:spPr>
          <a:xfrm>
            <a:off x="7094339" y="3335387"/>
            <a:ext cx="1573560" cy="478036"/>
          </a:xfrm>
          <a:prstGeom prst="roundRect">
            <a:avLst>
              <a:gd name="adj" fmla="val 7970"/>
            </a:avLst>
          </a:prstGeom>
          <a:solidFill>
            <a:srgbClr val="FECA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0"/>
          <p:cNvSpPr/>
          <p:nvPr/>
        </p:nvSpPr>
        <p:spPr>
          <a:xfrm>
            <a:off x="7156327" y="3411587"/>
            <a:ext cx="14495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0.50</a:t>
            </a:r>
            <a:endParaRPr lang="en-US" sz="1050" dirty="0"/>
          </a:p>
        </p:txBody>
      </p:sp>
      <p:sp>
        <p:nvSpPr>
          <p:cNvPr id="56" name="Text 51"/>
          <p:cNvSpPr/>
          <p:nvPr/>
        </p:nvSpPr>
        <p:spPr>
          <a:xfrm>
            <a:off x="7156327" y="3617268"/>
            <a:ext cx="144958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675" dirty="0"/>
          </a:p>
        </p:txBody>
      </p:sp>
      <p:sp>
        <p:nvSpPr>
          <p:cNvPr id="57" name="Text 52"/>
          <p:cNvSpPr/>
          <p:nvPr/>
        </p:nvSpPr>
        <p:spPr>
          <a:xfrm>
            <a:off x="476250" y="4003923"/>
            <a:ext cx="8286750" cy="462855"/>
          </a:xfrm>
          <a:prstGeom prst="roundRect">
            <a:avLst>
              <a:gd name="adj" fmla="val 1234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571500" y="4099173"/>
            <a:ext cx="21776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750" dirty="0"/>
          </a:p>
        </p:txBody>
      </p:sp>
      <p:sp>
        <p:nvSpPr>
          <p:cNvPr id="59" name="Text 54"/>
          <p:cNvSpPr/>
          <p:nvPr/>
        </p:nvSpPr>
        <p:spPr>
          <a:xfrm>
            <a:off x="571500" y="4251573"/>
            <a:ext cx="21776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Auto-flagging, review interface, correction feedback loop</a:t>
            </a:r>
            <a:endParaRPr lang="en-US" sz="675" dirty="0"/>
          </a:p>
        </p:txBody>
      </p:sp>
      <p:sp>
        <p:nvSpPr>
          <p:cNvPr id="60" name="Text 55"/>
          <p:cNvSpPr/>
          <p:nvPr/>
        </p:nvSpPr>
        <p:spPr>
          <a:xfrm>
            <a:off x="7006679" y="4118223"/>
            <a:ext cx="1661071" cy="234255"/>
          </a:xfrm>
          <a:prstGeom prst="roundRect">
            <a:avLst>
              <a:gd name="adj" fmla="val 16264"/>
            </a:avLst>
          </a:prstGeom>
          <a:solidFill>
            <a:srgbClr val="F9731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7120979" y="4175373"/>
            <a:ext cx="14611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Less than 10% Review Rate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21166" y="190500"/>
            <a:ext cx="1437084" cy="20955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35466" y="228600"/>
            <a:ext cx="1232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4-5 • WEEKS 9-12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90500" y="347663"/>
            <a:ext cx="381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"/>
            <a:ext cx="4262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Integration, Testing and Deployment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76250" y="1052215"/>
            <a:ext cx="4067175" cy="209550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1090315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INTEGRATION (Weeks 9-10)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6250" y="1337965"/>
            <a:ext cx="4067175" cy="1014710"/>
          </a:xfrm>
          <a:prstGeom prst="roundRect">
            <a:avLst>
              <a:gd name="adj" fmla="val 563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1433215"/>
            <a:ext cx="39542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9: REST API Development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71500" y="1610320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Setup FastAPI project structure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71500" y="1745456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Create POST /extract endpoint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71500" y="1880592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Add GET /tasks/{id} status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71500" y="2015728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batch processing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71500" y="2150864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async task queue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76250" y="2428875"/>
            <a:ext cx="4067175" cy="1014710"/>
          </a:xfrm>
          <a:prstGeom prst="roundRect">
            <a:avLst>
              <a:gd name="adj" fmla="val 563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2524125"/>
            <a:ext cx="39542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10: Testing Suite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71500" y="2701230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Unit tests for each agent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71500" y="2836366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Integration tests (end-to-end)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71500" y="2971502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Accuracy tests (golden dataset)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71500" y="3106638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Hallucination adversarial tests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71500" y="3241774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Performance benchmarks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6250" y="3519785"/>
            <a:ext cx="4067175" cy="1219200"/>
          </a:xfrm>
          <a:prstGeom prst="roundRect">
            <a:avLst>
              <a:gd name="adj" fmla="val 468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2450" y="3595985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/api/v1/extract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2450" y="3862685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/api/v1/tasks/{id}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2450" y="4129385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/api/v1/batch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2450" y="4396085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/api/v1/health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95825" y="1443782"/>
            <a:ext cx="4067175" cy="209550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91075" y="1481882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DEPLOYMENT (Weeks 11-12)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95825" y="1729532"/>
            <a:ext cx="4067175" cy="1033760"/>
          </a:xfrm>
          <a:prstGeom prst="roundRect">
            <a:avLst>
              <a:gd name="adj" fmla="val 552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00600" y="1834307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11: HIPAA Compliance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800600" y="2011412"/>
            <a:ext cx="39347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Verify 100% local processing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800600" y="2146548"/>
            <a:ext cx="39347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Implement AES-256 encryption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800600" y="2281684"/>
            <a:ext cx="39347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Setup role-based access control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800600" y="2416820"/>
            <a:ext cx="39347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Enable comprehensive audit logs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800600" y="2551956"/>
            <a:ext cx="39347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Configure secure temp cleanup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695825" y="2839492"/>
            <a:ext cx="4067175" cy="1014710"/>
          </a:xfrm>
          <a:prstGeom prst="roundRect">
            <a:avLst>
              <a:gd name="adj" fmla="val 563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91075" y="2934742"/>
            <a:ext cx="39542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12: Production Launch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791075" y="3111847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Setup monitoring dashboards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791075" y="3246983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Configure alerting rules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91075" y="3382119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Write operations runbook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791075" y="3517255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Train operations team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791075" y="3652391"/>
            <a:ext cx="39542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Go-live with pilot documents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695825" y="3930402"/>
            <a:ext cx="4067175" cy="417016"/>
          </a:xfrm>
          <a:prstGeom prst="roundRect">
            <a:avLst>
              <a:gd name="adj" fmla="val 1370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72025" y="4006602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4772025" y="4164657"/>
            <a:ext cx="39930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GPU: 50-100 pg/hr • Multi-GPU: 200-400 pg/hr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347663"/>
            <a:ext cx="381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28600"/>
            <a:ext cx="40251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12-Week Implementation Timeline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6250" y="1753791"/>
            <a:ext cx="8286750" cy="381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6275" y="14881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97316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76200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2604" y="155480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9583" y="181198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69583" y="1937593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200275" y="14881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B82F6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76200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06604" y="155480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93583" y="181198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2-3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993583" y="1937593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724275" y="14881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B5CF6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76200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30604" y="155480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517583" y="181198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4-6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17583" y="1937593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Agents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248275" y="14881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F4444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76200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4604" y="155480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41583" y="181198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7-8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041583" y="1937593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772275" y="14881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D9488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76200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78604" y="155480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65583" y="181198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9-10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565583" y="1937593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8296275" y="14881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2C55E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76200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02604" y="155480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89582" y="181198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11-12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8089582" y="1937593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76250" y="2267099"/>
            <a:ext cx="8286750" cy="1725513"/>
          </a:xfrm>
          <a:prstGeom prst="roundRect">
            <a:avLst>
              <a:gd name="adj" fmla="val 331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6250" y="2267099"/>
            <a:ext cx="8286750" cy="272355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1500" y="2343299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1695450" y="2343299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2819400" y="2343299"/>
            <a:ext cx="59653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476250" y="2778472"/>
            <a:ext cx="8286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" y="2596604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1695450" y="2596604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2819400" y="2596604"/>
            <a:ext cx="59653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Hardware, LM Studio, model download, Python env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76250" y="2783235"/>
            <a:ext cx="8286750" cy="2437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76250" y="3022253"/>
            <a:ext cx="8286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" y="2840385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1695450" y="2840385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2-3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2819400" y="2840385"/>
            <a:ext cx="59653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pipeline, LM client, schema system, RCM schemas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476250" y="3266033"/>
            <a:ext cx="8286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" y="3084165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1695450" y="3084165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4-6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2819400" y="3084165"/>
            <a:ext cx="59653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agents (Orchestrator, Analyzer, Extractor, Validator), LangGraph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476250" y="3270796"/>
            <a:ext cx="8286750" cy="2437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76250" y="3509814"/>
            <a:ext cx="8286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" y="3327946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1695450" y="3327946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7-8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2819400" y="3327946"/>
            <a:ext cx="59653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anti-hallucination, human-in-the-loop, confidence tuning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476250" y="3753594"/>
            <a:ext cx="8286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" y="3571726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1695450" y="3571726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9-10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2819400" y="3571726"/>
            <a:ext cx="59653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API, batch processing, unit/integration/accuracy tests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476250" y="3758357"/>
            <a:ext cx="8286750" cy="23425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71500" y="3815507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1695450" y="3815507"/>
            <a:ext cx="9909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11-12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2819400" y="3815507"/>
            <a:ext cx="59653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compliance, monitoring, alerting, documentation, go-live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476250" y="4106912"/>
            <a:ext cx="8286750" cy="329505"/>
          </a:xfrm>
          <a:prstGeom prst="roundRect">
            <a:avLst>
              <a:gd name="adj" fmla="val 17344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81025" y="4211687"/>
            <a:ext cx="23768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2-week contingency for edge cases and model tuning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7906941" y="4211687"/>
            <a:ext cx="7663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12-14 weeks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347663"/>
            <a:ext cx="381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28600"/>
            <a:ext cx="3687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 and Next Steps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6250" y="1855589"/>
            <a:ext cx="4148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TARGETS</a:t>
            </a:r>
            <a:endParaRPr lang="en-US" sz="675" dirty="0"/>
          </a:p>
        </p:txBody>
      </p:sp>
      <p:pic>
        <p:nvPicPr>
          <p:cNvPr id="6" name="Image 0" descr="/tmp/rasterized-gradient-ba2d91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032695"/>
            <a:ext cx="4067175" cy="419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0550" y="2182267"/>
            <a:ext cx="7740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ACCURACY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3974604" y="2108895"/>
            <a:ext cx="5024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1500" dirty="0"/>
          </a:p>
        </p:txBody>
      </p:sp>
      <p:pic>
        <p:nvPicPr>
          <p:cNvPr id="9" name="Image 1" descr="/tmp/rasterized-gradient-b247a7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508945"/>
            <a:ext cx="4067175" cy="419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0550" y="2658517"/>
            <a:ext cx="9682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RATE</a:t>
            </a:r>
            <a:endParaRPr lang="en-US" sz="675" dirty="0"/>
          </a:p>
        </p:txBody>
      </p:sp>
      <p:sp>
        <p:nvSpPr>
          <p:cNvPr id="11" name="Text 7"/>
          <p:cNvSpPr/>
          <p:nvPr/>
        </p:nvSpPr>
        <p:spPr>
          <a:xfrm>
            <a:off x="3524696" y="2585145"/>
            <a:ext cx="961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or less</a:t>
            </a:r>
            <a:endParaRPr lang="en-US" sz="1500" dirty="0"/>
          </a:p>
        </p:txBody>
      </p:sp>
      <p:pic>
        <p:nvPicPr>
          <p:cNvPr id="12" name="Image 2" descr="/tmp/rasterized-gradient-3e664a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85195"/>
            <a:ext cx="4067175" cy="4191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0550" y="3134767"/>
            <a:ext cx="9038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SPEED</a:t>
            </a:r>
            <a:endParaRPr lang="en-US" sz="675" dirty="0"/>
          </a:p>
        </p:txBody>
      </p:sp>
      <p:sp>
        <p:nvSpPr>
          <p:cNvPr id="14" name="Text 9"/>
          <p:cNvSpPr/>
          <p:nvPr/>
        </p:nvSpPr>
        <p:spPr>
          <a:xfrm>
            <a:off x="3588395" y="3061395"/>
            <a:ext cx="8964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15-25s/pg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6250" y="3461445"/>
            <a:ext cx="1317575" cy="417016"/>
          </a:xfrm>
          <a:prstGeom prst="roundRect">
            <a:avLst>
              <a:gd name="adj" fmla="val 913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21367" y="3518595"/>
            <a:ext cx="12273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21367" y="3714750"/>
            <a:ext cx="122734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1850975" y="3461445"/>
            <a:ext cx="1317575" cy="417016"/>
          </a:xfrm>
          <a:prstGeom prst="roundRect">
            <a:avLst>
              <a:gd name="adj" fmla="val 913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1896093" y="3518595"/>
            <a:ext cx="12273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896093" y="3714750"/>
            <a:ext cx="122734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Rate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3225701" y="3461445"/>
            <a:ext cx="1317575" cy="417016"/>
          </a:xfrm>
          <a:prstGeom prst="roundRect">
            <a:avLst>
              <a:gd name="adj" fmla="val 913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270818" y="3518595"/>
            <a:ext cx="12273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270818" y="3714750"/>
            <a:ext cx="122734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VLM/page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4695825" y="1523107"/>
            <a:ext cx="4148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675" dirty="0"/>
          </a:p>
        </p:txBody>
      </p:sp>
      <p:sp>
        <p:nvSpPr>
          <p:cNvPr id="25" name="Text 20"/>
          <p:cNvSpPr/>
          <p:nvPr/>
        </p:nvSpPr>
        <p:spPr>
          <a:xfrm>
            <a:off x="4695825" y="1700213"/>
            <a:ext cx="4067175" cy="904875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772025" y="177641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826943" y="1799332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8" name="Text 23"/>
          <p:cNvSpPr/>
          <p:nvPr/>
        </p:nvSpPr>
        <p:spPr>
          <a:xfrm>
            <a:off x="4981575" y="1792635"/>
            <a:ext cx="11696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 hardware (RTX 4090)</a:t>
            </a:r>
            <a:endParaRPr lang="en-US" sz="675" dirty="0"/>
          </a:p>
        </p:txBody>
      </p:sp>
      <p:sp>
        <p:nvSpPr>
          <p:cNvPr id="29" name="Text 24"/>
          <p:cNvSpPr/>
          <p:nvPr/>
        </p:nvSpPr>
        <p:spPr>
          <a:xfrm>
            <a:off x="4772025" y="197643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826943" y="1999357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1" name="Text 26"/>
          <p:cNvSpPr/>
          <p:nvPr/>
        </p:nvSpPr>
        <p:spPr>
          <a:xfrm>
            <a:off x="4981575" y="1992660"/>
            <a:ext cx="13487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sample corpus (100+ docs)</a:t>
            </a:r>
            <a:endParaRPr lang="en-US" sz="675" dirty="0"/>
          </a:p>
        </p:txBody>
      </p:sp>
      <p:sp>
        <p:nvSpPr>
          <p:cNvPr id="32" name="Text 27"/>
          <p:cNvSpPr/>
          <p:nvPr/>
        </p:nvSpPr>
        <p:spPr>
          <a:xfrm>
            <a:off x="4772025" y="217646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826943" y="2199382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4" name="Text 29"/>
          <p:cNvSpPr/>
          <p:nvPr/>
        </p:nvSpPr>
        <p:spPr>
          <a:xfrm>
            <a:off x="4981575" y="2192685"/>
            <a:ext cx="9331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custom schemas</a:t>
            </a:r>
            <a:endParaRPr lang="en-US" sz="675" dirty="0"/>
          </a:p>
        </p:txBody>
      </p:sp>
      <p:sp>
        <p:nvSpPr>
          <p:cNvPr id="35" name="Text 30"/>
          <p:cNvSpPr/>
          <p:nvPr/>
        </p:nvSpPr>
        <p:spPr>
          <a:xfrm>
            <a:off x="4772025" y="237648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826943" y="2399407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7" name="Text 32"/>
          <p:cNvSpPr/>
          <p:nvPr/>
        </p:nvSpPr>
        <p:spPr>
          <a:xfrm>
            <a:off x="4981575" y="2392710"/>
            <a:ext cx="12637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dev team (2-3 engineers)</a:t>
            </a:r>
            <a:endParaRPr lang="en-US" sz="675" dirty="0"/>
          </a:p>
        </p:txBody>
      </p:sp>
      <p:sp>
        <p:nvSpPr>
          <p:cNvPr id="38" name="Text 33"/>
          <p:cNvSpPr/>
          <p:nvPr/>
        </p:nvSpPr>
        <p:spPr>
          <a:xfrm>
            <a:off x="4695825" y="2662238"/>
            <a:ext cx="4148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675" dirty="0"/>
          </a:p>
        </p:txBody>
      </p:sp>
      <p:sp>
        <p:nvSpPr>
          <p:cNvPr id="39" name="Text 34"/>
          <p:cNvSpPr/>
          <p:nvPr/>
        </p:nvSpPr>
        <p:spPr>
          <a:xfrm>
            <a:off x="4695825" y="2839343"/>
            <a:ext cx="4067175" cy="99060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4772025" y="2915543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Hallucinations:</a:t>
            </a:r>
            <a:pPr algn="l" indent="0" marL="0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3-layer verification</a:t>
            </a:r>
            <a:endParaRPr lang="en-US" sz="1500" dirty="0"/>
          </a:p>
        </p:txBody>
      </p:sp>
      <p:sp>
        <p:nvSpPr>
          <p:cNvPr id="41" name="Text 36"/>
          <p:cNvSpPr/>
          <p:nvPr/>
        </p:nvSpPr>
        <p:spPr>
          <a:xfrm>
            <a:off x="4772025" y="3201293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quality:</a:t>
            </a:r>
            <a:pPr algn="l" indent="0" marL="0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Enhancement pipeline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4772025" y="3487043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local processing</a:t>
            </a:r>
            <a:endParaRPr lang="en-US" sz="1500" dirty="0"/>
          </a:p>
        </p:txBody>
      </p:sp>
      <p:pic>
        <p:nvPicPr>
          <p:cNvPr id="43" name="Image 3" descr="/tmp/rasterized-gradient-d6345d4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825" y="3887093"/>
            <a:ext cx="4067175" cy="32385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4752308" y="3982343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Begin Phase 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Agentic Document Extraction System</dc:title>
  <dc:subject>Implementation Plan for Healthcare RCM</dc:subject>
  <dc:creator>Document Extraction Team</dc:creator>
  <cp:lastModifiedBy>Document Extraction Team</cp:lastModifiedBy>
  <cp:revision>1</cp:revision>
  <dcterms:created xsi:type="dcterms:W3CDTF">2025-12-04T15:40:31Z</dcterms:created>
  <dcterms:modified xsi:type="dcterms:W3CDTF">2025-12-04T15:40:31Z</dcterms:modified>
</cp:coreProperties>
</file>